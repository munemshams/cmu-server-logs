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21"/>
  </p:notesMasterIdLst>
  <p:sldIdLst>
    <p:sldId id="256" r:id="rId2"/>
    <p:sldId id="257" r:id="rId3"/>
    <p:sldId id="271" r:id="rId4"/>
    <p:sldId id="272" r:id="rId5"/>
    <p:sldId id="275" r:id="rId6"/>
    <p:sldId id="274" r:id="rId7"/>
    <p:sldId id="273" r:id="rId8"/>
    <p:sldId id="276" r:id="rId9"/>
    <p:sldId id="259" r:id="rId10"/>
    <p:sldId id="278" r:id="rId11"/>
    <p:sldId id="279" r:id="rId12"/>
    <p:sldId id="277" r:id="rId13"/>
    <p:sldId id="280" r:id="rId14"/>
    <p:sldId id="281" r:id="rId15"/>
    <p:sldId id="269" r:id="rId16"/>
    <p:sldId id="283" r:id="rId17"/>
    <p:sldId id="282" r:id="rId18"/>
    <p:sldId id="270"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826"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BDB888-E996-49CA-B708-846B8044163E}"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F66F75-66D2-4907-8D1F-0AE1AF317CCE}" type="slidenum">
              <a:rPr lang="en-US" smtClean="0"/>
              <a:t>‹#›</a:t>
            </a:fld>
            <a:endParaRPr lang="en-US"/>
          </a:p>
        </p:txBody>
      </p:sp>
    </p:spTree>
    <p:extLst>
      <p:ext uri="{BB962C8B-B14F-4D97-AF65-F5344CB8AC3E}">
        <p14:creationId xmlns:p14="http://schemas.microsoft.com/office/powerpoint/2010/main" val="4091357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My name is </a:t>
            </a:r>
            <a:r>
              <a:rPr lang="en-US" dirty="0" err="1"/>
              <a:t>Munem</a:t>
            </a:r>
            <a:r>
              <a:rPr lang="en-US" dirty="0"/>
              <a:t> </a:t>
            </a:r>
            <a:r>
              <a:rPr lang="en-US" dirty="0" err="1"/>
              <a:t>Shariar</a:t>
            </a:r>
            <a:r>
              <a:rPr lang="en-US" dirty="0"/>
              <a:t> Shams and today I’ll be presenting my analysis of the server log data that the company provided me with and strategic recommendations based on the insights we </a:t>
            </a:r>
            <a:r>
              <a:rPr lang="en-US" dirty="0" err="1"/>
              <a:t>gott</a:t>
            </a:r>
            <a:r>
              <a:rPr lang="en-US" dirty="0"/>
              <a:t> from the analysis of that data.</a:t>
            </a:r>
          </a:p>
        </p:txBody>
      </p:sp>
      <p:sp>
        <p:nvSpPr>
          <p:cNvPr id="4" name="Slide Number Placeholder 3"/>
          <p:cNvSpPr>
            <a:spLocks noGrp="1"/>
          </p:cNvSpPr>
          <p:nvPr>
            <p:ph type="sldNum" sz="quarter" idx="5"/>
          </p:nvPr>
        </p:nvSpPr>
        <p:spPr/>
        <p:txBody>
          <a:bodyPr/>
          <a:lstStyle/>
          <a:p>
            <a:fld id="{03F66F75-66D2-4907-8D1F-0AE1AF317CCE}" type="slidenum">
              <a:rPr lang="en-US" smtClean="0"/>
              <a:t>1</a:t>
            </a:fld>
            <a:endParaRPr lang="en-US"/>
          </a:p>
        </p:txBody>
      </p:sp>
    </p:spTree>
    <p:extLst>
      <p:ext uri="{BB962C8B-B14F-4D97-AF65-F5344CB8AC3E}">
        <p14:creationId xmlns:p14="http://schemas.microsoft.com/office/powerpoint/2010/main" val="4178970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off with a brief overview of our analysis. What we did with this project is that we analyzed the usage of the VDI system in the year 2015 to understand what role this system is playing and how it’s helping us succeed with our academic missions. We focused only on the VDI machines for this analysis and we understood the usage and engagement patterns of the users. Obviously we had to asses the data quality before doing that because you know bad data can never help us reach any good conclusions. So we tried to listen to what the data is telling us and provided recommendations based on the insights so that we can make better decisions when it comes to resource allocation, operational cost management or just improving the overall experience for the users.</a:t>
            </a:r>
          </a:p>
        </p:txBody>
      </p:sp>
      <p:sp>
        <p:nvSpPr>
          <p:cNvPr id="4" name="Slide Number Placeholder 3"/>
          <p:cNvSpPr>
            <a:spLocks noGrp="1"/>
          </p:cNvSpPr>
          <p:nvPr>
            <p:ph type="sldNum" sz="quarter" idx="5"/>
          </p:nvPr>
        </p:nvSpPr>
        <p:spPr/>
        <p:txBody>
          <a:bodyPr/>
          <a:lstStyle/>
          <a:p>
            <a:fld id="{03F66F75-66D2-4907-8D1F-0AE1AF317CCE}" type="slidenum">
              <a:rPr lang="en-US" smtClean="0"/>
              <a:t>2</a:t>
            </a:fld>
            <a:endParaRPr lang="en-US"/>
          </a:p>
        </p:txBody>
      </p:sp>
    </p:spTree>
    <p:extLst>
      <p:ext uri="{BB962C8B-B14F-4D97-AF65-F5344CB8AC3E}">
        <p14:creationId xmlns:p14="http://schemas.microsoft.com/office/powerpoint/2010/main" val="1076585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jump to our analysis and recommendations I’ll take a quick minute to talk about our data preparation process. Obviously as I’ve mentioned before we filtered the data at first to only pull the records from 2015 which shortened the data set from 3.1 million to 299 thousand and then we applied a filter to only include records of VDI machines which further narrowed it down to 227 thousand. There were 3013 unique users but each user had multiple entries which led to duplicate user IDs since they use multiple different apps in each session. We didn’t filter that out because those entries are important for understanding application usage patterns. There were major flaws in the data as well which question the credibility of the data. I’ll point them out with examples now.</a:t>
            </a:r>
          </a:p>
        </p:txBody>
      </p:sp>
      <p:sp>
        <p:nvSpPr>
          <p:cNvPr id="4" name="Slide Number Placeholder 3"/>
          <p:cNvSpPr>
            <a:spLocks noGrp="1"/>
          </p:cNvSpPr>
          <p:nvPr>
            <p:ph type="sldNum" sz="quarter" idx="5"/>
          </p:nvPr>
        </p:nvSpPr>
        <p:spPr/>
        <p:txBody>
          <a:bodyPr/>
          <a:lstStyle/>
          <a:p>
            <a:fld id="{03F66F75-66D2-4907-8D1F-0AE1AF317CCE}" type="slidenum">
              <a:rPr lang="en-US" smtClean="0"/>
              <a:t>3</a:t>
            </a:fld>
            <a:endParaRPr lang="en-US"/>
          </a:p>
        </p:txBody>
      </p:sp>
    </p:spTree>
    <p:extLst>
      <p:ext uri="{BB962C8B-B14F-4D97-AF65-F5344CB8AC3E}">
        <p14:creationId xmlns:p14="http://schemas.microsoft.com/office/powerpoint/2010/main" val="623797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examples. Here’s the wrong date format</a:t>
            </a:r>
          </a:p>
        </p:txBody>
      </p:sp>
      <p:sp>
        <p:nvSpPr>
          <p:cNvPr id="4" name="Slide Number Placeholder 3"/>
          <p:cNvSpPr>
            <a:spLocks noGrp="1"/>
          </p:cNvSpPr>
          <p:nvPr>
            <p:ph type="sldNum" sz="quarter" idx="5"/>
          </p:nvPr>
        </p:nvSpPr>
        <p:spPr/>
        <p:txBody>
          <a:bodyPr/>
          <a:lstStyle/>
          <a:p>
            <a:fld id="{03F66F75-66D2-4907-8D1F-0AE1AF317CCE}" type="slidenum">
              <a:rPr lang="en-US" smtClean="0"/>
              <a:t>4</a:t>
            </a:fld>
            <a:endParaRPr lang="en-US"/>
          </a:p>
        </p:txBody>
      </p:sp>
    </p:spTree>
    <p:extLst>
      <p:ext uri="{BB962C8B-B14F-4D97-AF65-F5344CB8AC3E}">
        <p14:creationId xmlns:p14="http://schemas.microsoft.com/office/powerpoint/2010/main" val="2754214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fixed one</a:t>
            </a:r>
          </a:p>
        </p:txBody>
      </p:sp>
      <p:sp>
        <p:nvSpPr>
          <p:cNvPr id="4" name="Slide Number Placeholder 3"/>
          <p:cNvSpPr>
            <a:spLocks noGrp="1"/>
          </p:cNvSpPr>
          <p:nvPr>
            <p:ph type="sldNum" sz="quarter" idx="5"/>
          </p:nvPr>
        </p:nvSpPr>
        <p:spPr/>
        <p:txBody>
          <a:bodyPr/>
          <a:lstStyle/>
          <a:p>
            <a:fld id="{03F66F75-66D2-4907-8D1F-0AE1AF317CCE}" type="slidenum">
              <a:rPr lang="en-US" smtClean="0"/>
              <a:t>5</a:t>
            </a:fld>
            <a:endParaRPr lang="en-US"/>
          </a:p>
        </p:txBody>
      </p:sp>
    </p:spTree>
    <p:extLst>
      <p:ext uri="{BB962C8B-B14F-4D97-AF65-F5344CB8AC3E}">
        <p14:creationId xmlns:p14="http://schemas.microsoft.com/office/powerpoint/2010/main" val="777726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that shows the duplicate user IDs. </a:t>
            </a:r>
          </a:p>
        </p:txBody>
      </p:sp>
      <p:sp>
        <p:nvSpPr>
          <p:cNvPr id="4" name="Slide Number Placeholder 3"/>
          <p:cNvSpPr>
            <a:spLocks noGrp="1"/>
          </p:cNvSpPr>
          <p:nvPr>
            <p:ph type="sldNum" sz="quarter" idx="5"/>
          </p:nvPr>
        </p:nvSpPr>
        <p:spPr/>
        <p:txBody>
          <a:bodyPr/>
          <a:lstStyle/>
          <a:p>
            <a:fld id="{03F66F75-66D2-4907-8D1F-0AE1AF317CCE}" type="slidenum">
              <a:rPr lang="en-US" smtClean="0"/>
              <a:t>6</a:t>
            </a:fld>
            <a:endParaRPr lang="en-US"/>
          </a:p>
        </p:txBody>
      </p:sp>
    </p:spTree>
    <p:extLst>
      <p:ext uri="{BB962C8B-B14F-4D97-AF65-F5344CB8AC3E}">
        <p14:creationId xmlns:p14="http://schemas.microsoft.com/office/powerpoint/2010/main" val="2784930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wrong application stop time data</a:t>
            </a:r>
          </a:p>
        </p:txBody>
      </p:sp>
      <p:sp>
        <p:nvSpPr>
          <p:cNvPr id="4" name="Slide Number Placeholder 3"/>
          <p:cNvSpPr>
            <a:spLocks noGrp="1"/>
          </p:cNvSpPr>
          <p:nvPr>
            <p:ph type="sldNum" sz="quarter" idx="5"/>
          </p:nvPr>
        </p:nvSpPr>
        <p:spPr/>
        <p:txBody>
          <a:bodyPr/>
          <a:lstStyle/>
          <a:p>
            <a:fld id="{03F66F75-66D2-4907-8D1F-0AE1AF317CCE}" type="slidenum">
              <a:rPr lang="en-US" smtClean="0"/>
              <a:t>7</a:t>
            </a:fld>
            <a:endParaRPr lang="en-US"/>
          </a:p>
        </p:txBody>
      </p:sp>
    </p:spTree>
    <p:extLst>
      <p:ext uri="{BB962C8B-B14F-4D97-AF65-F5344CB8AC3E}">
        <p14:creationId xmlns:p14="http://schemas.microsoft.com/office/powerpoint/2010/main" val="1026913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wrong CPU usage data which contains negative values.</a:t>
            </a:r>
          </a:p>
        </p:txBody>
      </p:sp>
      <p:sp>
        <p:nvSpPr>
          <p:cNvPr id="4" name="Slide Number Placeholder 3"/>
          <p:cNvSpPr>
            <a:spLocks noGrp="1"/>
          </p:cNvSpPr>
          <p:nvPr>
            <p:ph type="sldNum" sz="quarter" idx="5"/>
          </p:nvPr>
        </p:nvSpPr>
        <p:spPr/>
        <p:txBody>
          <a:bodyPr/>
          <a:lstStyle/>
          <a:p>
            <a:fld id="{03F66F75-66D2-4907-8D1F-0AE1AF317CCE}" type="slidenum">
              <a:rPr lang="en-US" smtClean="0"/>
              <a:t>8</a:t>
            </a:fld>
            <a:endParaRPr lang="en-US"/>
          </a:p>
        </p:txBody>
      </p:sp>
    </p:spTree>
    <p:extLst>
      <p:ext uri="{BB962C8B-B14F-4D97-AF65-F5344CB8AC3E}">
        <p14:creationId xmlns:p14="http://schemas.microsoft.com/office/powerpoint/2010/main" val="1556237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our analysis of the system’s usage. There were 3013 unique users in 2015. And on average each user uses 5 different apps per session. I hope this bar chart gives us an understanding the usage frequency based on the usage of the most used applications.</a:t>
            </a:r>
          </a:p>
        </p:txBody>
      </p:sp>
      <p:sp>
        <p:nvSpPr>
          <p:cNvPr id="4" name="Slide Number Placeholder 3"/>
          <p:cNvSpPr>
            <a:spLocks noGrp="1"/>
          </p:cNvSpPr>
          <p:nvPr>
            <p:ph type="sldNum" sz="quarter" idx="5"/>
          </p:nvPr>
        </p:nvSpPr>
        <p:spPr/>
        <p:txBody>
          <a:bodyPr/>
          <a:lstStyle/>
          <a:p>
            <a:fld id="{03F66F75-66D2-4907-8D1F-0AE1AF317CCE}" type="slidenum">
              <a:rPr lang="en-US" smtClean="0"/>
              <a:t>9</a:t>
            </a:fld>
            <a:endParaRPr lang="en-US"/>
          </a:p>
        </p:txBody>
      </p:sp>
    </p:spTree>
    <p:extLst>
      <p:ext uri="{BB962C8B-B14F-4D97-AF65-F5344CB8AC3E}">
        <p14:creationId xmlns:p14="http://schemas.microsoft.com/office/powerpoint/2010/main" val="509116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number of users per day was 139. However the median number was 62. This difference is due to the massive fluctuation in both the seasons and the days of the weeks. So We can see in this graph that there is a massive decline is traffic during the Summer. The number of users per day is way lower than the average during the Summer. Let’s move on to analyzing that traffic based on each day of the week.</a:t>
            </a:r>
          </a:p>
        </p:txBody>
      </p:sp>
      <p:sp>
        <p:nvSpPr>
          <p:cNvPr id="4" name="Slide Number Placeholder 3"/>
          <p:cNvSpPr>
            <a:spLocks noGrp="1"/>
          </p:cNvSpPr>
          <p:nvPr>
            <p:ph type="sldNum" sz="quarter" idx="5"/>
          </p:nvPr>
        </p:nvSpPr>
        <p:spPr/>
        <p:txBody>
          <a:bodyPr/>
          <a:lstStyle/>
          <a:p>
            <a:fld id="{03F66F75-66D2-4907-8D1F-0AE1AF317CCE}" type="slidenum">
              <a:rPr lang="en-US" smtClean="0"/>
              <a:t>10</a:t>
            </a:fld>
            <a:endParaRPr lang="en-US"/>
          </a:p>
        </p:txBody>
      </p:sp>
    </p:spTree>
    <p:extLst>
      <p:ext uri="{BB962C8B-B14F-4D97-AF65-F5344CB8AC3E}">
        <p14:creationId xmlns:p14="http://schemas.microsoft.com/office/powerpoint/2010/main" val="1111786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can see there’s a noticeable decline on Friday right before the weekend and then on the weekends obviously the traffic is lower than weekdays.</a:t>
            </a:r>
          </a:p>
        </p:txBody>
      </p:sp>
      <p:sp>
        <p:nvSpPr>
          <p:cNvPr id="4" name="Slide Number Placeholder 3"/>
          <p:cNvSpPr>
            <a:spLocks noGrp="1"/>
          </p:cNvSpPr>
          <p:nvPr>
            <p:ph type="sldNum" sz="quarter" idx="5"/>
          </p:nvPr>
        </p:nvSpPr>
        <p:spPr/>
        <p:txBody>
          <a:bodyPr/>
          <a:lstStyle/>
          <a:p>
            <a:fld id="{03F66F75-66D2-4907-8D1F-0AE1AF317CCE}" type="slidenum">
              <a:rPr lang="en-US" smtClean="0"/>
              <a:t>11</a:t>
            </a:fld>
            <a:endParaRPr lang="en-US"/>
          </a:p>
        </p:txBody>
      </p:sp>
    </p:spTree>
    <p:extLst>
      <p:ext uri="{BB962C8B-B14F-4D97-AF65-F5344CB8AC3E}">
        <p14:creationId xmlns:p14="http://schemas.microsoft.com/office/powerpoint/2010/main" val="1830915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 number of users on a single day was 540 on April 28</a:t>
            </a:r>
            <a:r>
              <a:rPr lang="en-US" baseline="30000" dirty="0"/>
              <a:t>th</a:t>
            </a:r>
            <a:r>
              <a:rPr lang="en-US" dirty="0"/>
              <a:t> which was a Tuesday. Moving further along with that,</a:t>
            </a:r>
          </a:p>
        </p:txBody>
      </p:sp>
      <p:sp>
        <p:nvSpPr>
          <p:cNvPr id="4" name="Slide Number Placeholder 3"/>
          <p:cNvSpPr>
            <a:spLocks noGrp="1"/>
          </p:cNvSpPr>
          <p:nvPr>
            <p:ph type="sldNum" sz="quarter" idx="5"/>
          </p:nvPr>
        </p:nvSpPr>
        <p:spPr/>
        <p:txBody>
          <a:bodyPr/>
          <a:lstStyle/>
          <a:p>
            <a:fld id="{03F66F75-66D2-4907-8D1F-0AE1AF317CCE}" type="slidenum">
              <a:rPr lang="en-US" smtClean="0"/>
              <a:t>12</a:t>
            </a:fld>
            <a:endParaRPr lang="en-US"/>
          </a:p>
        </p:txBody>
      </p:sp>
    </p:spTree>
    <p:extLst>
      <p:ext uri="{BB962C8B-B14F-4D97-AF65-F5344CB8AC3E}">
        <p14:creationId xmlns:p14="http://schemas.microsoft.com/office/powerpoint/2010/main" val="3395735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00" dirty="0">
                <a:effectLst/>
                <a:ea typeface="Aptos" panose="020B0004020202020204" pitchFamily="34" charset="0"/>
                <a:cs typeface="Times New Roman" panose="02020603050405020304" pitchFamily="18" charset="0"/>
              </a:rPr>
              <a:t>This chart right here shows us the highest number of users based on each day of the week. With resemblance to the other weekly chart that we had about the average number of users, the highest number also declines steadily on Friday leading on to the weekend with the lowest traffic in the week. There’s an obvious resemblance in the pattern.</a:t>
            </a:r>
          </a:p>
          <a:p>
            <a:endParaRPr lang="en-US" dirty="0"/>
          </a:p>
        </p:txBody>
      </p:sp>
      <p:sp>
        <p:nvSpPr>
          <p:cNvPr id="4" name="Slide Number Placeholder 3"/>
          <p:cNvSpPr>
            <a:spLocks noGrp="1"/>
          </p:cNvSpPr>
          <p:nvPr>
            <p:ph type="sldNum" sz="quarter" idx="5"/>
          </p:nvPr>
        </p:nvSpPr>
        <p:spPr/>
        <p:txBody>
          <a:bodyPr/>
          <a:lstStyle/>
          <a:p>
            <a:fld id="{03F66F75-66D2-4907-8D1F-0AE1AF317CCE}" type="slidenum">
              <a:rPr lang="en-US" smtClean="0"/>
              <a:t>13</a:t>
            </a:fld>
            <a:endParaRPr lang="en-US"/>
          </a:p>
        </p:txBody>
      </p:sp>
    </p:spTree>
    <p:extLst>
      <p:ext uri="{BB962C8B-B14F-4D97-AF65-F5344CB8AC3E}">
        <p14:creationId xmlns:p14="http://schemas.microsoft.com/office/powerpoint/2010/main" val="3314155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analyzed the top 10 busiest days of the year and this also shows more resemblance to the pattern that we established.  8 out of 10 days are either Mondays or Tuesdays. None of them are Fridays or Weekend days. So there’s a pattern and we have more than enough evidence to prove it.</a:t>
            </a:r>
          </a:p>
        </p:txBody>
      </p:sp>
      <p:sp>
        <p:nvSpPr>
          <p:cNvPr id="4" name="Slide Number Placeholder 3"/>
          <p:cNvSpPr>
            <a:spLocks noGrp="1"/>
          </p:cNvSpPr>
          <p:nvPr>
            <p:ph type="sldNum" sz="quarter" idx="5"/>
          </p:nvPr>
        </p:nvSpPr>
        <p:spPr/>
        <p:txBody>
          <a:bodyPr/>
          <a:lstStyle/>
          <a:p>
            <a:fld id="{03F66F75-66D2-4907-8D1F-0AE1AF317CCE}" type="slidenum">
              <a:rPr lang="en-US" smtClean="0"/>
              <a:t>14</a:t>
            </a:fld>
            <a:endParaRPr lang="en-US"/>
          </a:p>
        </p:txBody>
      </p:sp>
    </p:spTree>
    <p:extLst>
      <p:ext uri="{BB962C8B-B14F-4D97-AF65-F5344CB8AC3E}">
        <p14:creationId xmlns:p14="http://schemas.microsoft.com/office/powerpoint/2010/main" val="3929748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our analysis of the top 5 users and their average CPU usage. So as we can see here these users represent the power users of our system and the top user averages 4.7 hours per session across 271 separate sessions.</a:t>
            </a:r>
          </a:p>
        </p:txBody>
      </p:sp>
      <p:sp>
        <p:nvSpPr>
          <p:cNvPr id="4" name="Slide Number Placeholder 3"/>
          <p:cNvSpPr>
            <a:spLocks noGrp="1"/>
          </p:cNvSpPr>
          <p:nvPr>
            <p:ph type="sldNum" sz="quarter" idx="5"/>
          </p:nvPr>
        </p:nvSpPr>
        <p:spPr/>
        <p:txBody>
          <a:bodyPr/>
          <a:lstStyle/>
          <a:p>
            <a:fld id="{03F66F75-66D2-4907-8D1F-0AE1AF317CCE}" type="slidenum">
              <a:rPr lang="en-US" smtClean="0"/>
              <a:t>15</a:t>
            </a:fld>
            <a:endParaRPr lang="en-US"/>
          </a:p>
        </p:txBody>
      </p:sp>
    </p:spTree>
    <p:extLst>
      <p:ext uri="{BB962C8B-B14F-4D97-AF65-F5344CB8AC3E}">
        <p14:creationId xmlns:p14="http://schemas.microsoft.com/office/powerpoint/2010/main" val="1561447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have mentioned before the CPU usage data had 13 thousand or 5.88% negative values and it affected our analysis here. The CPU usage data of these 5 users also had negative values as we can see here.</a:t>
            </a:r>
          </a:p>
        </p:txBody>
      </p:sp>
      <p:sp>
        <p:nvSpPr>
          <p:cNvPr id="4" name="Slide Number Placeholder 3"/>
          <p:cNvSpPr>
            <a:spLocks noGrp="1"/>
          </p:cNvSpPr>
          <p:nvPr>
            <p:ph type="sldNum" sz="quarter" idx="5"/>
          </p:nvPr>
        </p:nvSpPr>
        <p:spPr/>
        <p:txBody>
          <a:bodyPr/>
          <a:lstStyle/>
          <a:p>
            <a:fld id="{03F66F75-66D2-4907-8D1F-0AE1AF317CCE}" type="slidenum">
              <a:rPr lang="en-US" smtClean="0"/>
              <a:t>16</a:t>
            </a:fld>
            <a:endParaRPr lang="en-US"/>
          </a:p>
        </p:txBody>
      </p:sp>
    </p:spTree>
    <p:extLst>
      <p:ext uri="{BB962C8B-B14F-4D97-AF65-F5344CB8AC3E}">
        <p14:creationId xmlns:p14="http://schemas.microsoft.com/office/powerpoint/2010/main" val="227664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So, for this part of our work we conducted two separate analysis, one with the given data which contains negative values and one with a filtered data set with only positive values.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3F66F75-66D2-4907-8D1F-0AE1AF317CCE}" type="slidenum">
              <a:rPr lang="en-US" smtClean="0"/>
              <a:t>17</a:t>
            </a:fld>
            <a:endParaRPr lang="en-US"/>
          </a:p>
        </p:txBody>
      </p:sp>
    </p:spTree>
    <p:extLst>
      <p:ext uri="{BB962C8B-B14F-4D97-AF65-F5344CB8AC3E}">
        <p14:creationId xmlns:p14="http://schemas.microsoft.com/office/powerpoint/2010/main" val="3216661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important part, My concluding recommendations. Firstly I would like to suggest dynamic scaling based on the massive fluctuation noticed in the usage pattern. During the Summer we should reduce resource allocation by 40-50% and this could potentially save us a lot of money. We could consider the top users for a beta testing program for improving our system features. We should always ensure that maintenance work is scheduled on weekends and never on weekdays based on our usage patterns from this analysis. We should ensure proper data collection because we noticed a lot of bad data in the data set that was provided to us for this project. We should allocate resources based on the results we got, based on the traffic and the usage patterns and that includes staffing in our facilities. We obviously don’t need the regular staffing during the Summer due to the low usage. We could start working on training programs for the applications that are a little bit more on the technical side. Obviously we don’t need training programs for internet browsers of Microsoft word but there are programs like Visual Studio or SAP which are some of the top used applications and we can develop training programs for those. Similarly, we can also develop a quick start guide for new users. We noticed 555 one time users among the 3013 users in our system. </a:t>
            </a:r>
          </a:p>
        </p:txBody>
      </p:sp>
      <p:sp>
        <p:nvSpPr>
          <p:cNvPr id="4" name="Slide Number Placeholder 3"/>
          <p:cNvSpPr>
            <a:spLocks noGrp="1"/>
          </p:cNvSpPr>
          <p:nvPr>
            <p:ph type="sldNum" sz="quarter" idx="5"/>
          </p:nvPr>
        </p:nvSpPr>
        <p:spPr/>
        <p:txBody>
          <a:bodyPr/>
          <a:lstStyle/>
          <a:p>
            <a:fld id="{03F66F75-66D2-4907-8D1F-0AE1AF317CCE}" type="slidenum">
              <a:rPr lang="en-US" smtClean="0"/>
              <a:t>18</a:t>
            </a:fld>
            <a:endParaRPr lang="en-US"/>
          </a:p>
        </p:txBody>
      </p:sp>
    </p:spTree>
    <p:extLst>
      <p:ext uri="{BB962C8B-B14F-4D97-AF65-F5344CB8AC3E}">
        <p14:creationId xmlns:p14="http://schemas.microsoft.com/office/powerpoint/2010/main" val="987467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will be all for today but if anyone has any questions please feel free to reach out to me. Thank you!</a:t>
            </a:r>
          </a:p>
        </p:txBody>
      </p:sp>
      <p:sp>
        <p:nvSpPr>
          <p:cNvPr id="4" name="Slide Number Placeholder 3"/>
          <p:cNvSpPr>
            <a:spLocks noGrp="1"/>
          </p:cNvSpPr>
          <p:nvPr>
            <p:ph type="sldNum" sz="quarter" idx="5"/>
          </p:nvPr>
        </p:nvSpPr>
        <p:spPr/>
        <p:txBody>
          <a:bodyPr/>
          <a:lstStyle/>
          <a:p>
            <a:fld id="{03F66F75-66D2-4907-8D1F-0AE1AF317CCE}" type="slidenum">
              <a:rPr lang="en-US" smtClean="0"/>
              <a:t>19</a:t>
            </a:fld>
            <a:endParaRPr lang="en-US"/>
          </a:p>
        </p:txBody>
      </p:sp>
    </p:spTree>
    <p:extLst>
      <p:ext uri="{BB962C8B-B14F-4D97-AF65-F5344CB8AC3E}">
        <p14:creationId xmlns:p14="http://schemas.microsoft.com/office/powerpoint/2010/main" val="476244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01980948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27233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46144194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431070E-09BA-494B-8B6C-67CD9AC4630A}" type="datetimeFigureOut">
              <a:rPr lang="en-US" smtClean="0"/>
              <a:t>2/21/2026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4131020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60522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31070E-09BA-494B-8B6C-67CD9AC4630A}" type="datetimeFigureOut">
              <a:rPr lang="en-US" smtClean="0"/>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1726483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1070E-09BA-494B-8B6C-67CD9AC4630A}" type="datetimeFigureOut">
              <a:rPr lang="en-US" smtClean="0"/>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115575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431070E-09BA-494B-8B6C-67CD9AC4630A}" type="datetimeFigureOut">
              <a:rPr lang="en-US" smtClean="0"/>
              <a:t>2/21/2026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2568667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431070E-09BA-494B-8B6C-67CD9AC4630A}" type="datetimeFigureOut">
              <a:rPr lang="en-US" smtClean="0"/>
              <a:t>2/21/2026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908107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31070E-09BA-494B-8B6C-67CD9AC4630A}"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95075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31070E-09BA-494B-8B6C-67CD9AC4630A}"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4247164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431070E-09BA-494B-8B6C-67CD9AC4630A}" type="datetimeFigureOut">
              <a:rPr lang="en-US" smtClean="0"/>
              <a:t>2/21/2026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0EF5CD8-F000-40FC-8B31-8CF91FFEA67D}" type="slidenum">
              <a:rPr lang="en-US" smtClean="0"/>
              <a:t>‹#›</a:t>
            </a:fld>
            <a:endParaRPr lang="en-US"/>
          </a:p>
        </p:txBody>
      </p:sp>
    </p:spTree>
    <p:extLst>
      <p:ext uri="{BB962C8B-B14F-4D97-AF65-F5344CB8AC3E}">
        <p14:creationId xmlns:p14="http://schemas.microsoft.com/office/powerpoint/2010/main" val="309686063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83F7D-D4DC-A131-422F-BCDF129DBC85}"/>
              </a:ext>
            </a:extLst>
          </p:cNvPr>
          <p:cNvSpPr>
            <a:spLocks noGrp="1"/>
          </p:cNvSpPr>
          <p:nvPr>
            <p:ph type="ctrTitle"/>
          </p:nvPr>
        </p:nvSpPr>
        <p:spPr>
          <a:xfrm>
            <a:off x="1713089" y="1280432"/>
            <a:ext cx="8991600" cy="1645920"/>
          </a:xfrm>
        </p:spPr>
        <p:txBody>
          <a:bodyPr>
            <a:normAutofit fontScale="90000"/>
          </a:bodyPr>
          <a:lstStyle/>
          <a:p>
            <a:r>
              <a:rPr lang="en-US" dirty="0"/>
              <a:t>Analysis of Server logs data and strategic recommendations</a:t>
            </a:r>
          </a:p>
        </p:txBody>
      </p:sp>
      <p:sp>
        <p:nvSpPr>
          <p:cNvPr id="3" name="Subtitle 2">
            <a:extLst>
              <a:ext uri="{FF2B5EF4-FFF2-40B4-BE49-F238E27FC236}">
                <a16:creationId xmlns:a16="http://schemas.microsoft.com/office/drawing/2014/main" id="{CBDAADFD-68BF-6FDF-C547-DD6DC64CC55B}"/>
              </a:ext>
            </a:extLst>
          </p:cNvPr>
          <p:cNvSpPr>
            <a:spLocks noGrp="1"/>
          </p:cNvSpPr>
          <p:nvPr>
            <p:ph type="subTitle" idx="1"/>
          </p:nvPr>
        </p:nvSpPr>
        <p:spPr>
          <a:xfrm>
            <a:off x="2695194" y="3429000"/>
            <a:ext cx="6801612" cy="2104700"/>
          </a:xfrm>
        </p:spPr>
        <p:txBody>
          <a:bodyPr>
            <a:normAutofit/>
          </a:bodyPr>
          <a:lstStyle/>
          <a:p>
            <a:r>
              <a:rPr lang="en-US" dirty="0"/>
              <a:t>Presented by</a:t>
            </a:r>
          </a:p>
          <a:p>
            <a:r>
              <a:rPr lang="en-US" dirty="0" err="1"/>
              <a:t>Munem</a:t>
            </a:r>
            <a:r>
              <a:rPr lang="en-US" dirty="0"/>
              <a:t> </a:t>
            </a:r>
            <a:r>
              <a:rPr lang="en-US" dirty="0" err="1"/>
              <a:t>Shariar</a:t>
            </a:r>
            <a:r>
              <a:rPr lang="en-US" dirty="0"/>
              <a:t> Shams</a:t>
            </a:r>
          </a:p>
          <a:p>
            <a:r>
              <a:rPr lang="en-US"/>
              <a:t>Date</a:t>
            </a:r>
            <a:r>
              <a:rPr lang="en-US" dirty="0"/>
              <a:t>: 11.23.2025</a:t>
            </a:r>
          </a:p>
        </p:txBody>
      </p:sp>
    </p:spTree>
    <p:extLst>
      <p:ext uri="{BB962C8B-B14F-4D97-AF65-F5344CB8AC3E}">
        <p14:creationId xmlns:p14="http://schemas.microsoft.com/office/powerpoint/2010/main" val="2027074236"/>
      </p:ext>
    </p:extLst>
  </p:cSld>
  <p:clrMapOvr>
    <a:masterClrMapping/>
  </p:clrMapOvr>
  <mc:AlternateContent xmlns:mc="http://schemas.openxmlformats.org/markup-compatibility/2006" xmlns:p14="http://schemas.microsoft.com/office/powerpoint/2010/main">
    <mc:Choice Requires="p14">
      <p:transition spd="slow" p14:dur="2000" advTm="536"/>
    </mc:Choice>
    <mc:Fallback xmlns="">
      <p:transition spd="slow" advTm="53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45F75-CFB8-0969-9C10-59FBD42B12BB}"/>
              </a:ext>
            </a:extLst>
          </p:cNvPr>
          <p:cNvSpPr>
            <a:spLocks noGrp="1"/>
          </p:cNvSpPr>
          <p:nvPr>
            <p:ph type="title"/>
          </p:nvPr>
        </p:nvSpPr>
        <p:spPr>
          <a:xfrm>
            <a:off x="2231136" y="264781"/>
            <a:ext cx="7729728" cy="1135041"/>
          </a:xfrm>
        </p:spPr>
        <p:txBody>
          <a:bodyPr>
            <a:normAutofit/>
          </a:bodyPr>
          <a:lstStyle/>
          <a:p>
            <a:r>
              <a:rPr lang="en-US" sz="2400" b="1" kern="100" dirty="0">
                <a:effectLst/>
                <a:latin typeface="Aptos" panose="020B0004020202020204" pitchFamily="34" charset="0"/>
                <a:ea typeface="Aptos" panose="020B0004020202020204" pitchFamily="34" charset="0"/>
                <a:cs typeface="Times New Roman" panose="02020603050405020304" pitchFamily="18" charset="0"/>
              </a:rPr>
              <a:t>Project Overview</a:t>
            </a:r>
            <a:endParaRPr lang="en-US" sz="2400" dirty="0"/>
          </a:p>
        </p:txBody>
      </p:sp>
      <p:sp>
        <p:nvSpPr>
          <p:cNvPr id="3" name="Content Placeholder 2">
            <a:extLst>
              <a:ext uri="{FF2B5EF4-FFF2-40B4-BE49-F238E27FC236}">
                <a16:creationId xmlns:a16="http://schemas.microsoft.com/office/drawing/2014/main" id="{3D9C6757-77D7-14CE-42DF-3B1C73C8B749}"/>
              </a:ext>
            </a:extLst>
          </p:cNvPr>
          <p:cNvSpPr>
            <a:spLocks noGrp="1"/>
          </p:cNvSpPr>
          <p:nvPr>
            <p:ph idx="1"/>
          </p:nvPr>
        </p:nvSpPr>
        <p:spPr>
          <a:xfrm>
            <a:off x="587022" y="1723643"/>
            <a:ext cx="10588978" cy="4959961"/>
          </a:xfrm>
        </p:spPr>
        <p:txBody>
          <a:bodyPr>
            <a:normAutofit fontScale="92500" lnSpcReduction="10000"/>
          </a:bodyPr>
          <a:lstStyle/>
          <a:p>
            <a:pPr marL="0" marR="0" indent="0">
              <a:lnSpc>
                <a:spcPct val="107000"/>
              </a:lnSpc>
              <a:spcBef>
                <a:spcPts val="0"/>
              </a:spcBef>
              <a:spcAft>
                <a:spcPts val="800"/>
              </a:spcAft>
              <a:buNone/>
            </a:pPr>
            <a:r>
              <a:rPr lang="en-US" sz="1800" b="1" kern="100" dirty="0">
                <a:effectLst/>
                <a:ea typeface="Aptos" panose="020B0004020202020204" pitchFamily="34" charset="0"/>
                <a:cs typeface="Times New Roman" panose="02020603050405020304" pitchFamily="18" charset="0"/>
              </a:rPr>
              <a:t>What We Did:</a:t>
            </a:r>
            <a:endParaRPr lang="en-US" sz="1800" kern="100" dirty="0">
              <a:effectLst/>
              <a:ea typeface="Aptos" panose="020B0004020202020204" pitchFamily="34" charset="0"/>
              <a:cs typeface="Times New Roman" panose="02020603050405020304" pitchFamily="18" charset="0"/>
            </a:endParaRPr>
          </a:p>
          <a:p>
            <a:pPr algn="l">
              <a:buFont typeface="Arial" panose="020B0604020202020204" pitchFamily="34" charset="0"/>
              <a:buChar char="•"/>
            </a:pPr>
            <a:r>
              <a:rPr lang="en-US" b="0" i="0" dirty="0">
                <a:solidFill>
                  <a:srgbClr val="0F1115"/>
                </a:solidFill>
                <a:effectLst/>
              </a:rPr>
              <a:t>Analyzed the usage of Virtual Desktop Infrastructure (VDI) in the year 2015.</a:t>
            </a:r>
          </a:p>
          <a:p>
            <a:pPr algn="l">
              <a:buFont typeface="Arial" panose="020B0604020202020204" pitchFamily="34" charset="0"/>
              <a:buChar char="•"/>
            </a:pPr>
            <a:r>
              <a:rPr lang="en-US" b="0" i="0" dirty="0">
                <a:solidFill>
                  <a:srgbClr val="0F1115"/>
                </a:solidFill>
                <a:effectLst/>
              </a:rPr>
              <a:t>Focused exclusively on VDI machine rather than all types of machines.</a:t>
            </a:r>
          </a:p>
          <a:p>
            <a:pPr algn="l">
              <a:buFont typeface="Arial" panose="020B0604020202020204" pitchFamily="34" charset="0"/>
              <a:buChar char="•"/>
            </a:pPr>
            <a:r>
              <a:rPr lang="en-US" b="0" i="0" dirty="0">
                <a:solidFill>
                  <a:srgbClr val="0F1115"/>
                </a:solidFill>
                <a:effectLst/>
              </a:rPr>
              <a:t>Analyzed usage patterns and user engagement patterns.</a:t>
            </a:r>
          </a:p>
          <a:p>
            <a:pPr algn="l">
              <a:buFont typeface="Arial" panose="020B0604020202020204" pitchFamily="34" charset="0"/>
              <a:buChar char="•"/>
            </a:pPr>
            <a:r>
              <a:rPr lang="en-US" b="0" i="0" dirty="0">
                <a:solidFill>
                  <a:srgbClr val="0F1115"/>
                </a:solidFill>
                <a:effectLst/>
              </a:rPr>
              <a:t>Assessed the quality of the data.</a:t>
            </a:r>
          </a:p>
          <a:p>
            <a:pPr algn="l">
              <a:buFont typeface="Arial" panose="020B0604020202020204" pitchFamily="34" charset="0"/>
              <a:buChar char="•"/>
            </a:pPr>
            <a:r>
              <a:rPr lang="en-US" b="0" i="0" dirty="0">
                <a:solidFill>
                  <a:srgbClr val="0F1115"/>
                </a:solidFill>
                <a:effectLst/>
              </a:rPr>
              <a:t>Listened to what the data is telling us and provided strategic recommendations based on the insights.</a:t>
            </a:r>
          </a:p>
          <a:p>
            <a:pPr marL="0" marR="0" indent="0">
              <a:lnSpc>
                <a:spcPct val="107000"/>
              </a:lnSpc>
              <a:spcBef>
                <a:spcPts val="0"/>
              </a:spcBef>
              <a:spcAft>
                <a:spcPts val="800"/>
              </a:spcAft>
              <a:buNone/>
            </a:pPr>
            <a:endParaRPr lang="en-US" sz="1800" b="1" kern="100" dirty="0">
              <a:effectLst/>
              <a:ea typeface="Aptos" panose="020B0004020202020204" pitchFamily="34" charset="0"/>
              <a:cs typeface="Times New Roman" panose="02020603050405020304" pitchFamily="18" charset="0"/>
            </a:endParaRPr>
          </a:p>
          <a:p>
            <a:pPr marL="0" indent="0">
              <a:buNone/>
            </a:pPr>
            <a:r>
              <a:rPr lang="en-US" sz="1800" b="1" kern="100" dirty="0">
                <a:effectLst/>
                <a:ea typeface="Aptos" panose="020B0004020202020204" pitchFamily="34" charset="0"/>
                <a:cs typeface="Times New Roman" panose="02020603050405020304" pitchFamily="18" charset="0"/>
              </a:rPr>
              <a:t>Why we did it:</a:t>
            </a:r>
          </a:p>
          <a:p>
            <a:r>
              <a:rPr lang="en-US" b="0" i="0" dirty="0">
                <a:solidFill>
                  <a:srgbClr val="0F1115"/>
                </a:solidFill>
                <a:effectLst/>
              </a:rPr>
              <a:t>To understand the significance of the VDI system</a:t>
            </a:r>
            <a:r>
              <a:rPr lang="en-US" dirty="0">
                <a:solidFill>
                  <a:srgbClr val="0F1115"/>
                </a:solidFill>
              </a:rPr>
              <a:t> for the students.</a:t>
            </a:r>
            <a:endParaRPr lang="en-US" b="0" i="0" dirty="0">
              <a:solidFill>
                <a:srgbClr val="0F1115"/>
              </a:solidFill>
              <a:effectLst/>
            </a:endParaRPr>
          </a:p>
          <a:p>
            <a:pPr algn="l">
              <a:buFont typeface="Arial" panose="020B0604020202020204" pitchFamily="34" charset="0"/>
              <a:buChar char="•"/>
            </a:pPr>
            <a:r>
              <a:rPr lang="en-US" dirty="0">
                <a:solidFill>
                  <a:srgbClr val="0F1115"/>
                </a:solidFill>
              </a:rPr>
              <a:t>Data quality check ensures precise analysis. Bad data can never help us reach any good conclusions.</a:t>
            </a:r>
            <a:endParaRPr lang="en-US" b="0" i="0" dirty="0">
              <a:solidFill>
                <a:srgbClr val="0F1115"/>
              </a:solidFill>
              <a:effectLst/>
            </a:endParaRPr>
          </a:p>
          <a:p>
            <a:pPr algn="l">
              <a:buFont typeface="Arial" panose="020B0604020202020204" pitchFamily="34" charset="0"/>
              <a:buChar char="•"/>
            </a:pPr>
            <a:r>
              <a:rPr lang="en-US" b="0" i="0" dirty="0">
                <a:solidFill>
                  <a:srgbClr val="0F1115"/>
                </a:solidFill>
                <a:effectLst/>
              </a:rPr>
              <a:t>To uncover opportunities for growth and improvement.</a:t>
            </a:r>
          </a:p>
          <a:p>
            <a:pPr algn="l">
              <a:buFont typeface="Arial" panose="020B0604020202020204" pitchFamily="34" charset="0"/>
              <a:buChar char="•"/>
            </a:pPr>
            <a:r>
              <a:rPr lang="en-US" b="0" i="0" dirty="0">
                <a:solidFill>
                  <a:srgbClr val="0F1115"/>
                </a:solidFill>
                <a:effectLst/>
              </a:rPr>
              <a:t>To make data-driven decisions about resource allocation and operational cost management.</a:t>
            </a:r>
          </a:p>
          <a:p>
            <a:pPr algn="l">
              <a:buFont typeface="Arial" panose="020B0604020202020204" pitchFamily="34" charset="0"/>
              <a:buChar char="•"/>
            </a:pPr>
            <a:r>
              <a:rPr lang="en-US" b="0" i="0" dirty="0">
                <a:solidFill>
                  <a:srgbClr val="0F1115"/>
                </a:solidFill>
                <a:effectLst/>
              </a:rPr>
              <a:t>To leverage customer feedback for </a:t>
            </a:r>
            <a:r>
              <a:rPr lang="en-US" dirty="0">
                <a:solidFill>
                  <a:srgbClr val="0F1115"/>
                </a:solidFill>
              </a:rPr>
              <a:t>user experience improvement.</a:t>
            </a:r>
            <a:endParaRPr lang="en-US" b="0" i="0" dirty="0">
              <a:solidFill>
                <a:srgbClr val="0F1115"/>
              </a:solidFill>
              <a:effectLst/>
            </a:endParaRPr>
          </a:p>
          <a:p>
            <a:pPr marL="0" marR="0" indent="0">
              <a:lnSpc>
                <a:spcPct val="107000"/>
              </a:lnSpc>
              <a:spcBef>
                <a:spcPts val="0"/>
              </a:spcBef>
              <a:spcAft>
                <a:spcPts val="800"/>
              </a:spcAft>
              <a:buNone/>
            </a:pPr>
            <a:endParaRPr lang="en-US" dirty="0"/>
          </a:p>
        </p:txBody>
      </p:sp>
    </p:spTree>
    <p:extLst>
      <p:ext uri="{BB962C8B-B14F-4D97-AF65-F5344CB8AC3E}">
        <p14:creationId xmlns:p14="http://schemas.microsoft.com/office/powerpoint/2010/main" val="3352264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2231135" y="219625"/>
            <a:ext cx="8504597" cy="1188720"/>
          </a:xfrm>
        </p:spPr>
        <p:txBody>
          <a:bodyPr>
            <a:normAutofit/>
          </a:bodyPr>
          <a:lstStyle/>
          <a:p>
            <a:r>
              <a:rPr lang="en-US" sz="2400" b="1" dirty="0">
                <a:effectLst/>
                <a:latin typeface="Aptos" panose="020B0004020202020204" pitchFamily="34" charset="0"/>
                <a:ea typeface="Aptos" panose="020B0004020202020204" pitchFamily="34" charset="0"/>
                <a:cs typeface="Times New Roman" panose="02020603050405020304" pitchFamily="18" charset="0"/>
              </a:rPr>
              <a:t>Data Preparation</a:t>
            </a:r>
            <a:endParaRPr lang="en-US" sz="2400" dirty="0"/>
          </a:p>
        </p:txBody>
      </p:sp>
      <p:sp>
        <p:nvSpPr>
          <p:cNvPr id="10" name="Content Placeholder 9">
            <a:extLst>
              <a:ext uri="{FF2B5EF4-FFF2-40B4-BE49-F238E27FC236}">
                <a16:creationId xmlns:a16="http://schemas.microsoft.com/office/drawing/2014/main" id="{C42FC1F5-B1F4-1637-2A62-2233E77BC67F}"/>
              </a:ext>
            </a:extLst>
          </p:cNvPr>
          <p:cNvSpPr>
            <a:spLocks noGrp="1"/>
          </p:cNvSpPr>
          <p:nvPr>
            <p:ph idx="1"/>
          </p:nvPr>
        </p:nvSpPr>
        <p:spPr>
          <a:xfrm>
            <a:off x="2231136" y="1812758"/>
            <a:ext cx="8504596" cy="3927269"/>
          </a:xfrm>
        </p:spPr>
        <p:txBody>
          <a:bodyPr/>
          <a:lstStyle/>
          <a:p>
            <a:r>
              <a:rPr lang="en-US" dirty="0"/>
              <a:t>Had to apply necessary filters from the large data set containing 3.1 million observations to include records only from the </a:t>
            </a:r>
            <a:r>
              <a:rPr lang="en-US" b="1" dirty="0"/>
              <a:t>year 2015(299,998 records) </a:t>
            </a:r>
            <a:r>
              <a:rPr lang="en-US" dirty="0"/>
              <a:t>and </a:t>
            </a:r>
            <a:r>
              <a:rPr lang="en-US" b="1" dirty="0"/>
              <a:t>only for VDI machines</a:t>
            </a:r>
            <a:r>
              <a:rPr lang="en-US" dirty="0"/>
              <a:t>. The final data set contained 227,386 records. Had to apply filters to fix date formatting issues for login and logout times.</a:t>
            </a:r>
          </a:p>
          <a:p>
            <a:r>
              <a:rPr lang="en-US" dirty="0"/>
              <a:t>Duplicate user IDs- There were 3013 unique users but there were multiple entries for any single users since they used multiple different apps in each session. We used </a:t>
            </a:r>
            <a:r>
              <a:rPr lang="en-US" dirty="0" err="1"/>
              <a:t>n_distinct</a:t>
            </a:r>
            <a:r>
              <a:rPr lang="en-US" dirty="0"/>
              <a:t> function to count users but did not filter out duplicate entries since it is important to understand app usage patterns. We cannot simply filter it out. The role of filters is to help us pull out what we want, not just make the data set smaller for us and do whatever is convenient.</a:t>
            </a:r>
          </a:p>
          <a:p>
            <a:r>
              <a:rPr lang="en-US" dirty="0"/>
              <a:t>Assessing the Data Quality- There were major flaws in the data quality which questions the credibility of the data such as wrong application stop times and wrong CPU usage values. I’ll point them out with clear examples.</a:t>
            </a:r>
          </a:p>
        </p:txBody>
      </p:sp>
    </p:spTree>
    <p:extLst>
      <p:ext uri="{BB962C8B-B14F-4D97-AF65-F5344CB8AC3E}">
        <p14:creationId xmlns:p14="http://schemas.microsoft.com/office/powerpoint/2010/main" val="3385283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 shot of a graph&#10;&#10;Description automatically generated">
            <a:extLst>
              <a:ext uri="{FF2B5EF4-FFF2-40B4-BE49-F238E27FC236}">
                <a16:creationId xmlns:a16="http://schemas.microsoft.com/office/drawing/2014/main" id="{83B80069-9C56-7967-1176-3CEBCE44027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31310" y="168447"/>
            <a:ext cx="9450221" cy="5510458"/>
          </a:xfrm>
          <a:prstGeom prst="rect">
            <a:avLst/>
          </a:prstGeom>
        </p:spPr>
      </p:pic>
      <p:sp>
        <p:nvSpPr>
          <p:cNvPr id="6" name="TextBox 5">
            <a:extLst>
              <a:ext uri="{FF2B5EF4-FFF2-40B4-BE49-F238E27FC236}">
                <a16:creationId xmlns:a16="http://schemas.microsoft.com/office/drawing/2014/main" id="{80F1787C-62FA-CD80-3656-6834D3300AAA}"/>
              </a:ext>
            </a:extLst>
          </p:cNvPr>
          <p:cNvSpPr txBox="1"/>
          <p:nvPr/>
        </p:nvSpPr>
        <p:spPr>
          <a:xfrm>
            <a:off x="4725110" y="5839326"/>
            <a:ext cx="6096000" cy="369332"/>
          </a:xfrm>
          <a:prstGeom prst="rect">
            <a:avLst/>
          </a:prstGeom>
          <a:noFill/>
        </p:spPr>
        <p:txBody>
          <a:bodyPr wrap="square">
            <a:spAutoFit/>
          </a:bodyPr>
          <a:lstStyle/>
          <a:p>
            <a:pPr marL="0" indent="0">
              <a:buNone/>
            </a:pPr>
            <a:r>
              <a:rPr lang="en-US" b="1" dirty="0"/>
              <a:t>Wrong Date Format</a:t>
            </a:r>
          </a:p>
        </p:txBody>
      </p:sp>
    </p:spTree>
    <p:extLst>
      <p:ext uri="{BB962C8B-B14F-4D97-AF65-F5344CB8AC3E}">
        <p14:creationId xmlns:p14="http://schemas.microsoft.com/office/powerpoint/2010/main" val="405766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0F1787C-62FA-CD80-3656-6834D3300AAA}"/>
              </a:ext>
            </a:extLst>
          </p:cNvPr>
          <p:cNvSpPr txBox="1"/>
          <p:nvPr/>
        </p:nvSpPr>
        <p:spPr>
          <a:xfrm>
            <a:off x="4892843" y="5582653"/>
            <a:ext cx="6096000" cy="369332"/>
          </a:xfrm>
          <a:prstGeom prst="rect">
            <a:avLst/>
          </a:prstGeom>
          <a:noFill/>
        </p:spPr>
        <p:txBody>
          <a:bodyPr wrap="square">
            <a:spAutoFit/>
          </a:bodyPr>
          <a:lstStyle/>
          <a:p>
            <a:pPr marL="0" indent="0">
              <a:buNone/>
            </a:pPr>
            <a:r>
              <a:rPr lang="en-US" b="1" dirty="0"/>
              <a:t>Fixed Date Format</a:t>
            </a:r>
          </a:p>
        </p:txBody>
      </p:sp>
      <p:pic>
        <p:nvPicPr>
          <p:cNvPr id="2" name="Picture 1" descr="A screen shot of a data&#10;&#10;Description automatically generated">
            <a:extLst>
              <a:ext uri="{FF2B5EF4-FFF2-40B4-BE49-F238E27FC236}">
                <a16:creationId xmlns:a16="http://schemas.microsoft.com/office/drawing/2014/main" id="{05AB6531-12B6-4E06-55FE-3D7CA49AA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9577" y="279646"/>
            <a:ext cx="9851771" cy="5132586"/>
          </a:xfrm>
          <a:prstGeom prst="rect">
            <a:avLst/>
          </a:prstGeom>
        </p:spPr>
      </p:pic>
    </p:spTree>
    <p:extLst>
      <p:ext uri="{BB962C8B-B14F-4D97-AF65-F5344CB8AC3E}">
        <p14:creationId xmlns:p14="http://schemas.microsoft.com/office/powerpoint/2010/main" val="1704142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5071872" y="5614736"/>
            <a:ext cx="7729728" cy="430091"/>
          </a:xfrm>
        </p:spPr>
        <p:txBody>
          <a:bodyPr/>
          <a:lstStyle/>
          <a:p>
            <a:pPr marL="0" indent="0">
              <a:buNone/>
            </a:pPr>
            <a:r>
              <a:rPr lang="en-US" b="1" dirty="0"/>
              <a:t>Duplicate User IDs</a:t>
            </a:r>
          </a:p>
        </p:txBody>
      </p:sp>
      <p:pic>
        <p:nvPicPr>
          <p:cNvPr id="2" name="Picture 1" descr="A white sheet with black and red lines&#10;&#10;Description automatically generated with medium confidence">
            <a:extLst>
              <a:ext uri="{FF2B5EF4-FFF2-40B4-BE49-F238E27FC236}">
                <a16:creationId xmlns:a16="http://schemas.microsoft.com/office/drawing/2014/main" id="{3E8D9945-085A-9F49-0410-F35D4E44A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135" y="428059"/>
            <a:ext cx="8704024" cy="1496994"/>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2F687FCC-1EC5-F849-5C7B-49185A5F0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1135" y="1925052"/>
            <a:ext cx="8704024" cy="3577389"/>
          </a:xfrm>
          <a:prstGeom prst="rect">
            <a:avLst/>
          </a:prstGeom>
        </p:spPr>
      </p:pic>
    </p:spTree>
    <p:extLst>
      <p:ext uri="{BB962C8B-B14F-4D97-AF65-F5344CB8AC3E}">
        <p14:creationId xmlns:p14="http://schemas.microsoft.com/office/powerpoint/2010/main" val="51726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3193662" y="5358062"/>
            <a:ext cx="7729728" cy="349881"/>
          </a:xfrm>
        </p:spPr>
        <p:txBody>
          <a:bodyPr>
            <a:normAutofit lnSpcReduction="10000"/>
          </a:bodyPr>
          <a:lstStyle/>
          <a:p>
            <a:pPr marL="0" indent="0">
              <a:buNone/>
            </a:pPr>
            <a:r>
              <a:rPr lang="en-US" sz="1800" b="1" dirty="0">
                <a:solidFill>
                  <a:srgbClr val="000000"/>
                </a:solidFill>
                <a:effectLst/>
                <a:latin typeface="Times New Roman" panose="02020603050405020304" pitchFamily="18" charset="0"/>
                <a:ea typeface="Aptos" panose="020B0004020202020204" pitchFamily="34" charset="0"/>
              </a:rPr>
              <a:t>Wrong Stop time data for applications (1900-01-01)</a:t>
            </a:r>
            <a:endParaRPr lang="en-US" dirty="0"/>
          </a:p>
        </p:txBody>
      </p:sp>
      <p:pic>
        <p:nvPicPr>
          <p:cNvPr id="2" name="Picture 1" descr="A screenshot of a computer&#10;&#10;Description automatically generated">
            <a:extLst>
              <a:ext uri="{FF2B5EF4-FFF2-40B4-BE49-F238E27FC236}">
                <a16:creationId xmlns:a16="http://schemas.microsoft.com/office/drawing/2014/main" id="{76671C32-8A6C-1623-8F96-8C531E847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3782" y="271061"/>
            <a:ext cx="8128786" cy="4878317"/>
          </a:xfrm>
          <a:prstGeom prst="rect">
            <a:avLst/>
          </a:prstGeom>
        </p:spPr>
      </p:pic>
    </p:spTree>
    <p:extLst>
      <p:ext uri="{BB962C8B-B14F-4D97-AF65-F5344CB8AC3E}">
        <p14:creationId xmlns:p14="http://schemas.microsoft.com/office/powerpoint/2010/main" val="4253985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4042611" y="5213685"/>
            <a:ext cx="5453032" cy="381964"/>
          </a:xfrm>
        </p:spPr>
        <p:txBody>
          <a:bodyPr>
            <a:normAutofit/>
          </a:bodyPr>
          <a:lstStyle/>
          <a:p>
            <a:pPr marL="0" indent="0">
              <a:buNone/>
            </a:pPr>
            <a:r>
              <a:rPr lang="en-US" sz="1800" b="1" dirty="0">
                <a:solidFill>
                  <a:srgbClr val="000000"/>
                </a:solidFill>
                <a:effectLst/>
                <a:latin typeface="Times New Roman" panose="02020603050405020304" pitchFamily="18" charset="0"/>
                <a:ea typeface="Aptos" panose="020B0004020202020204" pitchFamily="34" charset="0"/>
              </a:rPr>
              <a:t>Wrong CPU Usage data (Negative Values)</a:t>
            </a:r>
            <a:endParaRPr lang="en-US" dirty="0"/>
          </a:p>
        </p:txBody>
      </p:sp>
      <p:pic>
        <p:nvPicPr>
          <p:cNvPr id="2" name="Picture 1" descr="A screenshot of a computer&#10;&#10;Description automatically generated">
            <a:extLst>
              <a:ext uri="{FF2B5EF4-FFF2-40B4-BE49-F238E27FC236}">
                <a16:creationId xmlns:a16="http://schemas.microsoft.com/office/drawing/2014/main" id="{CBC3F21C-DE0B-69BB-9ADE-A8907E043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9608" y="339929"/>
            <a:ext cx="8619310" cy="4713334"/>
          </a:xfrm>
          <a:prstGeom prst="rect">
            <a:avLst/>
          </a:prstGeom>
        </p:spPr>
      </p:pic>
    </p:spTree>
    <p:extLst>
      <p:ext uri="{BB962C8B-B14F-4D97-AF65-F5344CB8AC3E}">
        <p14:creationId xmlns:p14="http://schemas.microsoft.com/office/powerpoint/2010/main" val="1026439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804672" y="964692"/>
            <a:ext cx="3066937" cy="1188720"/>
          </a:xfrm>
        </p:spPr>
        <p:txBody>
          <a:bodyPr>
            <a:normAutofit/>
          </a:bodyPr>
          <a:lstStyle/>
          <a:p>
            <a:r>
              <a:rPr lang="en-US" sz="2600" b="1" i="0">
                <a:effectLst/>
                <a:latin typeface="quote-cjk-patch"/>
              </a:rPr>
              <a:t>Analysis of Overall USAGE</a:t>
            </a:r>
            <a:endParaRPr lang="en-US" sz="260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03244" y="2638044"/>
            <a:ext cx="3063765" cy="3263206"/>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Total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Total 3013 users in 2015</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Each user uses an average of 5 different applications per session</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 An overview of some of the most used applications.</a:t>
            </a:r>
          </a:p>
        </p:txBody>
      </p:sp>
      <p:sp>
        <p:nvSpPr>
          <p:cNvPr id="17" name="Rectangle 16">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numbers and a number of users&#10;&#10;Description automatically generated">
            <a:extLst>
              <a:ext uri="{FF2B5EF4-FFF2-40B4-BE49-F238E27FC236}">
                <a16:creationId xmlns:a16="http://schemas.microsoft.com/office/drawing/2014/main" id="{CB441CAF-3773-C447-AE8B-98ED753F73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9613" y="1559053"/>
            <a:ext cx="6476381" cy="3999304"/>
          </a:xfrm>
          <a:prstGeom prst="rect">
            <a:avLst/>
          </a:prstGeom>
        </p:spPr>
      </p:pic>
    </p:spTree>
    <p:extLst>
      <p:ext uri="{BB962C8B-B14F-4D97-AF65-F5344CB8AC3E}">
        <p14:creationId xmlns:p14="http://schemas.microsoft.com/office/powerpoint/2010/main" val="3180876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804672" y="964692"/>
            <a:ext cx="3066937" cy="1188720"/>
          </a:xfrm>
        </p:spPr>
        <p:txBody>
          <a:bodyPr>
            <a:normAutofit/>
          </a:bodyPr>
          <a:lstStyle/>
          <a:p>
            <a:r>
              <a:rPr lang="en-US" sz="2600" b="1" i="0">
                <a:effectLst/>
                <a:latin typeface="quote-cjk-patch"/>
              </a:rPr>
              <a:t>Analysis of Overall USAGE</a:t>
            </a:r>
            <a:endParaRPr lang="en-US" sz="260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04672" y="2638044"/>
            <a:ext cx="3063765" cy="3263206"/>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Average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An average of 139 users per day.  </a:t>
            </a:r>
            <a:r>
              <a:rPr lang="en-US" kern="100" dirty="0">
                <a:ea typeface="Aptos" panose="020B0004020202020204" pitchFamily="34" charset="0"/>
                <a:cs typeface="Times New Roman" panose="02020603050405020304" pitchFamily="18" charset="0"/>
              </a:rPr>
              <a:t>Median was 62.</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a typeface="Aptos" panose="020B0004020202020204" pitchFamily="34" charset="0"/>
                <a:cs typeface="Times New Roman" panose="02020603050405020304" pitchFamily="18" charset="0"/>
              </a:rPr>
              <a:t>Extremely low traffic in the Summer.</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a typeface="Aptos" panose="020B0004020202020204" pitchFamily="34" charset="0"/>
                <a:cs typeface="Times New Roman" panose="02020603050405020304" pitchFamily="18" charset="0"/>
              </a:rPr>
              <a:t>This suggests that resource allocation should be done accordingly.</a:t>
            </a:r>
            <a:endParaRPr lang="en-US" kern="100" dirty="0">
              <a:effectLst/>
              <a:ea typeface="Aptos" panose="020B000402020202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a number of people&#10;&#10;Description automatically generated">
            <a:extLst>
              <a:ext uri="{FF2B5EF4-FFF2-40B4-BE49-F238E27FC236}">
                <a16:creationId xmlns:a16="http://schemas.microsoft.com/office/drawing/2014/main" id="{91509289-236D-992C-17BF-3564DFE70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366" y="1510256"/>
            <a:ext cx="6227064" cy="3845429"/>
          </a:xfrm>
          <a:prstGeom prst="rect">
            <a:avLst/>
          </a:prstGeom>
        </p:spPr>
      </p:pic>
    </p:spTree>
    <p:extLst>
      <p:ext uri="{BB962C8B-B14F-4D97-AF65-F5344CB8AC3E}">
        <p14:creationId xmlns:p14="http://schemas.microsoft.com/office/powerpoint/2010/main" val="2192982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270934" y="469031"/>
            <a:ext cx="3725334" cy="1319304"/>
          </a:xfrm>
        </p:spPr>
        <p:txBody>
          <a:bodyPr>
            <a:normAutofit/>
          </a:bodyPr>
          <a:lstStyle/>
          <a:p>
            <a:r>
              <a:rPr lang="en-US" sz="2600" b="1" i="0" dirty="0">
                <a:effectLst/>
                <a:latin typeface="quote-cjk-patch"/>
              </a:rPr>
              <a:t>Analysis of Overall USAGE</a:t>
            </a:r>
            <a:endParaRPr lang="en-US" sz="26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270934" y="1788335"/>
            <a:ext cx="4057684" cy="4290733"/>
          </a:xfrm>
        </p:spPr>
        <p:txBody>
          <a:bodyPr>
            <a:normAutofit lnSpcReduction="10000"/>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Average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Tuesday was the peak day with an average of 191 users.</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Usage remained high on Monday (157) and Wednesday (169) and Thursday (169).</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A noticeable decline occurred on  Friday (117).</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Weekend usage was less than half of the weekday usage, with Sunday (84) and Saturday (71) seeing the lowest traffic. So the traffic declined more than 50% on weekends.</a:t>
            </a:r>
          </a:p>
        </p:txBody>
      </p:sp>
      <p:sp>
        <p:nvSpPr>
          <p:cNvPr id="30" name="Rectangle 2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aph of blue bars with white text&#10;&#10;Description automatically generated">
            <a:extLst>
              <a:ext uri="{FF2B5EF4-FFF2-40B4-BE49-F238E27FC236}">
                <a16:creationId xmlns:a16="http://schemas.microsoft.com/office/drawing/2014/main" id="{413398F6-6FED-C02E-B338-338E8C2566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366" y="1510256"/>
            <a:ext cx="6227064" cy="3845429"/>
          </a:xfrm>
          <a:prstGeom prst="rect">
            <a:avLst/>
          </a:prstGeom>
        </p:spPr>
      </p:pic>
    </p:spTree>
    <p:extLst>
      <p:ext uri="{BB962C8B-B14F-4D97-AF65-F5344CB8AC3E}">
        <p14:creationId xmlns:p14="http://schemas.microsoft.com/office/powerpoint/2010/main" val="3326183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856454" y="5215467"/>
            <a:ext cx="10885493" cy="454080"/>
          </a:xfrm>
        </p:spPr>
        <p:txBody>
          <a:bodyPr>
            <a:normAutofit/>
          </a:bodyPr>
          <a:lstStyle/>
          <a:p>
            <a:pPr marL="0" indent="0" algn="ctr">
              <a:buNone/>
            </a:pPr>
            <a:r>
              <a:rPr lang="en-US" sz="1800" b="1" dirty="0">
                <a:solidFill>
                  <a:srgbClr val="000000"/>
                </a:solidFill>
                <a:effectLst/>
                <a:latin typeface="Times New Roman" panose="02020603050405020304" pitchFamily="18" charset="0"/>
                <a:ea typeface="Aptos" panose="020B0004020202020204" pitchFamily="34" charset="0"/>
              </a:rPr>
              <a:t>Highest number of Users on a single day was 540 on April 28 (Tuesday)</a:t>
            </a:r>
            <a:endParaRPr lang="en-US" dirty="0"/>
          </a:p>
        </p:txBody>
      </p:sp>
      <p:pic>
        <p:nvPicPr>
          <p:cNvPr id="2" name="Picture 1" descr="A close-up of a computer screen&#10;&#10;Description automatically generated">
            <a:extLst>
              <a:ext uri="{FF2B5EF4-FFF2-40B4-BE49-F238E27FC236}">
                <a16:creationId xmlns:a16="http://schemas.microsoft.com/office/drawing/2014/main" id="{AABE4A27-EC1A-C506-DFE7-12D2F8B64178}"/>
              </a:ext>
            </a:extLst>
          </p:cNvPr>
          <p:cNvPicPr>
            <a:picLocks noChangeAspect="1"/>
          </p:cNvPicPr>
          <p:nvPr/>
        </p:nvPicPr>
        <p:blipFill>
          <a:blip r:embed="rId3">
            <a:extLst>
              <a:ext uri="{28A0092B-C50C-407E-A947-70E740481C1C}">
                <a14:useLocalDpi xmlns:a14="http://schemas.microsoft.com/office/drawing/2010/main" val="0"/>
              </a:ext>
            </a:extLst>
          </a:blip>
          <a:srcRect l="-25762" r="50487"/>
          <a:stretch/>
        </p:blipFill>
        <p:spPr>
          <a:xfrm>
            <a:off x="-1743453" y="2939481"/>
            <a:ext cx="11962325" cy="2037345"/>
          </a:xfrm>
          <a:prstGeom prst="rect">
            <a:avLst/>
          </a:prstGeom>
        </p:spPr>
      </p:pic>
      <p:sp>
        <p:nvSpPr>
          <p:cNvPr id="4" name="Title 1">
            <a:extLst>
              <a:ext uri="{FF2B5EF4-FFF2-40B4-BE49-F238E27FC236}">
                <a16:creationId xmlns:a16="http://schemas.microsoft.com/office/drawing/2014/main" id="{A7D7638E-3591-82E7-8D39-8E657E8C24A6}"/>
              </a:ext>
            </a:extLst>
          </p:cNvPr>
          <p:cNvSpPr>
            <a:spLocks noGrp="1"/>
          </p:cNvSpPr>
          <p:nvPr>
            <p:ph type="title"/>
          </p:nvPr>
        </p:nvSpPr>
        <p:spPr>
          <a:xfrm>
            <a:off x="3089538" y="556706"/>
            <a:ext cx="6419323" cy="1263494"/>
          </a:xfrm>
        </p:spPr>
        <p:txBody>
          <a:bodyPr>
            <a:normAutofit/>
          </a:bodyPr>
          <a:lstStyle/>
          <a:p>
            <a:r>
              <a:rPr lang="en-US" sz="2400" b="1" i="0" dirty="0">
                <a:effectLst/>
                <a:latin typeface="quote-cjk-patch"/>
              </a:rPr>
              <a:t>Analysis of overall usage</a:t>
            </a:r>
            <a:endParaRPr lang="en-US" sz="2400" dirty="0"/>
          </a:p>
        </p:txBody>
      </p:sp>
    </p:spTree>
    <p:extLst>
      <p:ext uri="{BB962C8B-B14F-4D97-AF65-F5344CB8AC3E}">
        <p14:creationId xmlns:p14="http://schemas.microsoft.com/office/powerpoint/2010/main" val="1554916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270934" y="469031"/>
            <a:ext cx="3725334" cy="1319304"/>
          </a:xfrm>
        </p:spPr>
        <p:txBody>
          <a:bodyPr>
            <a:normAutofit/>
          </a:bodyPr>
          <a:lstStyle/>
          <a:p>
            <a:r>
              <a:rPr lang="en-US" sz="2600" b="1" i="0" dirty="0">
                <a:effectLst/>
                <a:latin typeface="quote-cjk-patch"/>
              </a:rPr>
              <a:t>Analysis of Overall USAGE</a:t>
            </a:r>
            <a:endParaRPr lang="en-US" sz="26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270934" y="1788335"/>
            <a:ext cx="4057684" cy="4290733"/>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Highest Number of Users:</a:t>
            </a:r>
          </a:p>
          <a:p>
            <a:pPr>
              <a:spcBef>
                <a:spcPts val="0"/>
              </a:spcBef>
              <a:spcAft>
                <a:spcPts val="800"/>
              </a:spcAft>
            </a:pPr>
            <a:r>
              <a:rPr lang="en-US" kern="100" dirty="0">
                <a:effectLst/>
                <a:ea typeface="Aptos" panose="020B0004020202020204" pitchFamily="34" charset="0"/>
                <a:cs typeface="Times New Roman" panose="02020603050405020304" pitchFamily="18" charset="0"/>
              </a:rPr>
              <a:t>This chart shows us the highest number of users based on each day of the week.</a:t>
            </a:r>
          </a:p>
          <a:p>
            <a:pPr>
              <a:spcBef>
                <a:spcPts val="0"/>
              </a:spcBef>
              <a:spcAft>
                <a:spcPts val="800"/>
              </a:spcAft>
            </a:pPr>
            <a:r>
              <a:rPr lang="en-US" kern="100" dirty="0">
                <a:ea typeface="Aptos" panose="020B0004020202020204" pitchFamily="34" charset="0"/>
                <a:cs typeface="Times New Roman" panose="02020603050405020304" pitchFamily="18" charset="0"/>
              </a:rPr>
              <a:t>There’s a resemblance to the weekly chart for average number of users for Friday and the </a:t>
            </a:r>
            <a:r>
              <a:rPr lang="en-US" kern="100" dirty="0" err="1">
                <a:ea typeface="Aptos" panose="020B0004020202020204" pitchFamily="34" charset="0"/>
                <a:cs typeface="Times New Roman" panose="02020603050405020304" pitchFamily="18" charset="0"/>
              </a:rPr>
              <a:t>weekened</a:t>
            </a:r>
            <a:r>
              <a:rPr lang="en-US" kern="100" dirty="0">
                <a:ea typeface="Aptos" panose="020B0004020202020204" pitchFamily="34" charset="0"/>
                <a:cs typeface="Times New Roman" panose="02020603050405020304" pitchFamily="18" charset="0"/>
              </a:rPr>
              <a:t>.</a:t>
            </a:r>
            <a:endParaRPr lang="en-US" kern="100" dirty="0">
              <a:effectLst/>
              <a:ea typeface="Aptos" panose="020B000402020202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of people with numbers&#10;&#10;Description automatically generated with medium confidence">
            <a:extLst>
              <a:ext uri="{FF2B5EF4-FFF2-40B4-BE49-F238E27FC236}">
                <a16:creationId xmlns:a16="http://schemas.microsoft.com/office/drawing/2014/main" id="{461FC1C8-FF0A-E856-42E3-6AD1ABC98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6662" y="1532784"/>
            <a:ext cx="6539332" cy="4038283"/>
          </a:xfrm>
          <a:prstGeom prst="rect">
            <a:avLst/>
          </a:prstGeom>
        </p:spPr>
      </p:pic>
    </p:spTree>
    <p:extLst>
      <p:ext uri="{BB962C8B-B14F-4D97-AF65-F5344CB8AC3E}">
        <p14:creationId xmlns:p14="http://schemas.microsoft.com/office/powerpoint/2010/main" val="2728251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270934" y="469031"/>
            <a:ext cx="3725334" cy="1319304"/>
          </a:xfrm>
        </p:spPr>
        <p:txBody>
          <a:bodyPr>
            <a:normAutofit/>
          </a:bodyPr>
          <a:lstStyle/>
          <a:p>
            <a:r>
              <a:rPr lang="en-US" sz="2600" b="1" i="0" dirty="0">
                <a:effectLst/>
                <a:latin typeface="quote-cjk-patch"/>
              </a:rPr>
              <a:t>Analysis of Overall USAGE</a:t>
            </a:r>
            <a:endParaRPr lang="en-US" sz="26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270934" y="1788335"/>
            <a:ext cx="4057684" cy="4290733"/>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a typeface="Aptos" panose="020B0004020202020204" pitchFamily="34" charset="0"/>
                <a:cs typeface="Times New Roman" panose="02020603050405020304" pitchFamily="18" charset="0"/>
              </a:rPr>
              <a:t>Highest</a:t>
            </a:r>
            <a:r>
              <a:rPr lang="en-US" b="1" kern="100" dirty="0">
                <a:effectLst/>
                <a:ea typeface="Aptos" panose="020B0004020202020204" pitchFamily="34" charset="0"/>
                <a:cs typeface="Times New Roman" panose="02020603050405020304" pitchFamily="18" charset="0"/>
              </a:rPr>
              <a:t>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dirty="0">
                <a:solidFill>
                  <a:srgbClr val="000000"/>
                </a:solidFill>
                <a:latin typeface="Times New Roman" panose="02020603050405020304" pitchFamily="18" charset="0"/>
                <a:ea typeface="Aptos" panose="020B0004020202020204" pitchFamily="34" charset="0"/>
              </a:rPr>
              <a:t>S</a:t>
            </a:r>
            <a:r>
              <a:rPr lang="en-US" sz="1800" dirty="0">
                <a:solidFill>
                  <a:srgbClr val="000000"/>
                </a:solidFill>
                <a:effectLst/>
                <a:latin typeface="Times New Roman" panose="02020603050405020304" pitchFamily="18" charset="0"/>
                <a:ea typeface="Aptos" panose="020B0004020202020204" pitchFamily="34" charset="0"/>
              </a:rPr>
              <a:t>trong concentration in the Spring semester which is a regular academic session and Summer is not.</a:t>
            </a:r>
          </a:p>
          <a:p>
            <a:pPr marL="342900" marR="0" lvl="0" indent="-342900">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Aptos" panose="020B0004020202020204" pitchFamily="34" charset="0"/>
              </a:rPr>
              <a:t>8 of the 10 days falling on a Monday or Tuesday</a:t>
            </a:r>
            <a:r>
              <a:rPr lang="en-US" dirty="0">
                <a:solidFill>
                  <a:srgbClr val="000000"/>
                </a:solidFill>
                <a:latin typeface="Times New Roman" panose="02020603050405020304" pitchFamily="18" charset="0"/>
                <a:ea typeface="Aptos" panose="020B0004020202020204" pitchFamily="34" charset="0"/>
              </a:rPr>
              <a:t>.</a:t>
            </a:r>
          </a:p>
          <a:p>
            <a:pPr marL="342900" marR="0" lvl="0" indent="-342900">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Aptos" panose="020B0004020202020204" pitchFamily="34" charset="0"/>
              </a:rPr>
              <a:t>This clustering of peak usage days suggests that the beginning of the week is when demand is highest.</a:t>
            </a:r>
          </a:p>
          <a:p>
            <a:pPr marL="342900" marR="0" lvl="0" indent="-342900">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Aptos" panose="020B0004020202020204" pitchFamily="34" charset="0"/>
              </a:rPr>
              <a:t>The maximum users by day of week further confirms this pattern</a:t>
            </a:r>
            <a:r>
              <a:rPr lang="en-US" dirty="0">
                <a:solidFill>
                  <a:srgbClr val="000000"/>
                </a:solidFill>
                <a:latin typeface="Times New Roman" panose="02020603050405020304" pitchFamily="18" charset="0"/>
                <a:ea typeface="Aptos" panose="020B0004020202020204" pitchFamily="34" charset="0"/>
              </a:rPr>
              <a:t>.</a:t>
            </a:r>
            <a:endParaRPr lang="en-US" sz="1800" dirty="0">
              <a:solidFill>
                <a:srgbClr val="000000"/>
              </a:solidFill>
              <a:effectLst/>
              <a:latin typeface="Times New Roman" panose="02020603050405020304" pitchFamily="18" charset="0"/>
              <a:ea typeface="Aptos" panose="020B0004020202020204" pitchFamily="34" charset="0"/>
            </a:endParaRPr>
          </a:p>
          <a:p>
            <a:pPr marL="342900" marR="0" lvl="0" indent="-342900">
              <a:spcBef>
                <a:spcPts val="0"/>
              </a:spcBef>
              <a:spcAft>
                <a:spcPts val="800"/>
              </a:spcAft>
              <a:buSzPts val="1000"/>
              <a:buFont typeface="Symbol" panose="05050102010706020507" pitchFamily="18" charset="2"/>
              <a:buChar char=""/>
              <a:tabLst>
                <a:tab pos="457200" algn="l"/>
              </a:tabLst>
            </a:pPr>
            <a:endParaRPr lang="en-US" kern="100" dirty="0">
              <a:effectLst/>
              <a:ea typeface="Aptos" panose="020B000402020202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numbers and a number of users&#10;&#10;Description automatically generated">
            <a:extLst>
              <a:ext uri="{FF2B5EF4-FFF2-40B4-BE49-F238E27FC236}">
                <a16:creationId xmlns:a16="http://schemas.microsoft.com/office/drawing/2014/main" id="{3A68B379-0C95-C4A6-AB02-1319C42E4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7802" y="1426739"/>
            <a:ext cx="6485017" cy="4004522"/>
          </a:xfrm>
          <a:prstGeom prst="rect">
            <a:avLst/>
          </a:prstGeom>
        </p:spPr>
      </p:pic>
    </p:spTree>
    <p:extLst>
      <p:ext uri="{BB962C8B-B14F-4D97-AF65-F5344CB8AC3E}">
        <p14:creationId xmlns:p14="http://schemas.microsoft.com/office/powerpoint/2010/main" val="2016086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312677" y="964692"/>
            <a:ext cx="3066937" cy="1188720"/>
          </a:xfrm>
        </p:spPr>
        <p:txBody>
          <a:bodyPr>
            <a:normAutofit/>
          </a:bodyPr>
          <a:lstStyle/>
          <a:p>
            <a:r>
              <a:rPr lang="en-US" sz="2400" b="1" i="0" dirty="0">
                <a:effectLst/>
                <a:latin typeface="quote-cjk-patch"/>
              </a:rPr>
              <a:t>Analysis of the top 5 users</a:t>
            </a:r>
            <a:endParaRPr lang="en-US" sz="2400" dirty="0"/>
          </a:p>
        </p:txBody>
      </p:sp>
      <p:sp>
        <p:nvSpPr>
          <p:cNvPr id="41" name="Rectangle 40">
            <a:extLst>
              <a:ext uri="{FF2B5EF4-FFF2-40B4-BE49-F238E27FC236}">
                <a16:creationId xmlns:a16="http://schemas.microsoft.com/office/drawing/2014/main" id="{A99FE660-E3DF-47E7-962D-66C6F6CE0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795"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38C29FEE-8E8F-43D5-AD23-EB4060B4D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8415"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312677" y="2630078"/>
            <a:ext cx="3063765" cy="3263230"/>
          </a:xfrm>
        </p:spPr>
        <p:txBody>
          <a:bodyPr>
            <a:normAutofit/>
          </a:bodyPr>
          <a:lstStyle/>
          <a:p>
            <a:pPr marL="0" indent="0" algn="l">
              <a:buNone/>
            </a:pPr>
            <a:r>
              <a:rPr lang="en-US" sz="1400" b="1" dirty="0">
                <a:solidFill>
                  <a:srgbClr val="0F1115"/>
                </a:solidFill>
                <a:effectLst/>
              </a:rPr>
              <a:t>Customer Favorites</a:t>
            </a:r>
          </a:p>
          <a:p>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These users represent the system's "power users" with the top user averaging 4.7 hours per session over 271 separate logins, indicating a high dependency on VDI usage.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l"/>
            <a:endParaRPr lang="en-US" sz="1400" dirty="0">
              <a:solidFill>
                <a:srgbClr val="0F1115"/>
              </a:solidFill>
              <a:effectLst/>
            </a:endParaRPr>
          </a:p>
        </p:txBody>
      </p:sp>
      <p:pic>
        <p:nvPicPr>
          <p:cNvPr id="4" name="Picture 3">
            <a:extLst>
              <a:ext uri="{FF2B5EF4-FFF2-40B4-BE49-F238E27FC236}">
                <a16:creationId xmlns:a16="http://schemas.microsoft.com/office/drawing/2014/main" id="{9DC0246C-93DD-5630-B106-5B5D7394DFA2}"/>
              </a:ext>
            </a:extLst>
          </p:cNvPr>
          <p:cNvPicPr>
            <a:picLocks noChangeAspect="1"/>
          </p:cNvPicPr>
          <p:nvPr/>
        </p:nvPicPr>
        <p:blipFill>
          <a:blip r:embed="rId3">
            <a:extLst>
              <a:ext uri="{28A0092B-C50C-407E-A947-70E740481C1C}">
                <a14:useLocalDpi xmlns:a14="http://schemas.microsoft.com/office/drawing/2010/main" val="0"/>
              </a:ext>
            </a:extLst>
          </a:blip>
          <a:srcRect r="16179"/>
          <a:stretch/>
        </p:blipFill>
        <p:spPr>
          <a:xfrm>
            <a:off x="1080015" y="1128682"/>
            <a:ext cx="6456592" cy="1501395"/>
          </a:xfrm>
          <a:prstGeom prst="rect">
            <a:avLst/>
          </a:prstGeom>
        </p:spPr>
      </p:pic>
      <p:pic>
        <p:nvPicPr>
          <p:cNvPr id="6" name="Picture 5" descr="A graph with blue bars and numbers&#10;&#10;Description automatically generated">
            <a:extLst>
              <a:ext uri="{FF2B5EF4-FFF2-40B4-BE49-F238E27FC236}">
                <a16:creationId xmlns:a16="http://schemas.microsoft.com/office/drawing/2014/main" id="{55961C40-C3D9-3C4E-A787-0EBCF7F855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9985" y="2630077"/>
            <a:ext cx="6015052" cy="3074886"/>
          </a:xfrm>
          <a:prstGeom prst="rect">
            <a:avLst/>
          </a:prstGeom>
        </p:spPr>
      </p:pic>
    </p:spTree>
    <p:extLst>
      <p:ext uri="{BB962C8B-B14F-4D97-AF65-F5344CB8AC3E}">
        <p14:creationId xmlns:p14="http://schemas.microsoft.com/office/powerpoint/2010/main" val="1489268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771787" y="4426641"/>
            <a:ext cx="10885493" cy="2269066"/>
          </a:xfrm>
        </p:spPr>
        <p:txBody>
          <a:bodyPr>
            <a:normAutofit/>
          </a:bodyPr>
          <a:lstStyle/>
          <a:p>
            <a:pPr marL="0" marR="0" indent="0">
              <a:lnSpc>
                <a:spcPct val="107000"/>
              </a:lnSpc>
              <a:spcBef>
                <a:spcPts val="0"/>
              </a:spcBef>
              <a:spcAft>
                <a:spcPts val="800"/>
              </a:spcAft>
              <a:buNone/>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As noted in the data quality section, the CPU usage data contains significant issues. We already know that 5.88% (total 13,371) of the entries are negative in this column which is a data quality issue since CPU usage percentage cannot be negative. This affected our analysis of the average CPU usage of the top 5 users as well. So, for this section we conducted two separate analysis, one with the given data which contains negative values and one with a filtered data set with only positive values.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AE70AC7-A44E-80DC-374C-42D0A32569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253" y="2295893"/>
            <a:ext cx="10885493" cy="1666658"/>
          </a:xfrm>
          <a:prstGeom prst="rect">
            <a:avLst/>
          </a:prstGeom>
        </p:spPr>
      </p:pic>
      <p:sp>
        <p:nvSpPr>
          <p:cNvPr id="5" name="Title 1">
            <a:extLst>
              <a:ext uri="{FF2B5EF4-FFF2-40B4-BE49-F238E27FC236}">
                <a16:creationId xmlns:a16="http://schemas.microsoft.com/office/drawing/2014/main" id="{2FECCBC0-D218-C518-EBA4-EC45CFF39232}"/>
              </a:ext>
            </a:extLst>
          </p:cNvPr>
          <p:cNvSpPr>
            <a:spLocks noGrp="1"/>
          </p:cNvSpPr>
          <p:nvPr>
            <p:ph type="title"/>
          </p:nvPr>
        </p:nvSpPr>
        <p:spPr>
          <a:xfrm>
            <a:off x="3245770" y="568309"/>
            <a:ext cx="6419323" cy="1263494"/>
          </a:xfrm>
        </p:spPr>
        <p:txBody>
          <a:bodyPr>
            <a:normAutofit/>
          </a:bodyPr>
          <a:lstStyle/>
          <a:p>
            <a:r>
              <a:rPr lang="en-US" sz="2400" b="1" i="0" dirty="0">
                <a:effectLst/>
                <a:latin typeface="quote-cjk-patch"/>
              </a:rPr>
              <a:t>CPU Usage of the TOP 5 Users</a:t>
            </a:r>
            <a:endParaRPr lang="en-US" sz="2400" dirty="0"/>
          </a:p>
        </p:txBody>
      </p:sp>
    </p:spTree>
    <p:extLst>
      <p:ext uri="{BB962C8B-B14F-4D97-AF65-F5344CB8AC3E}">
        <p14:creationId xmlns:p14="http://schemas.microsoft.com/office/powerpoint/2010/main" val="2947314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312677" y="964692"/>
            <a:ext cx="3066937" cy="1188720"/>
          </a:xfrm>
        </p:spPr>
        <p:txBody>
          <a:bodyPr>
            <a:normAutofit/>
          </a:bodyPr>
          <a:lstStyle/>
          <a:p>
            <a:r>
              <a:rPr lang="en-US" sz="2400" b="1" i="0" dirty="0" err="1">
                <a:effectLst/>
                <a:latin typeface="quote-cjk-patch"/>
              </a:rPr>
              <a:t>Cpu</a:t>
            </a:r>
            <a:r>
              <a:rPr lang="en-US" sz="2400" b="1" i="0" dirty="0">
                <a:effectLst/>
                <a:latin typeface="quote-cjk-patch"/>
              </a:rPr>
              <a:t> usage of the top 5 users</a:t>
            </a:r>
            <a:endParaRPr lang="en-US" sz="2400" dirty="0"/>
          </a:p>
        </p:txBody>
      </p:sp>
      <p:sp>
        <p:nvSpPr>
          <p:cNvPr id="41" name="Rectangle 40">
            <a:extLst>
              <a:ext uri="{FF2B5EF4-FFF2-40B4-BE49-F238E27FC236}">
                <a16:creationId xmlns:a16="http://schemas.microsoft.com/office/drawing/2014/main" id="{A99FE660-E3DF-47E7-962D-66C6F6CE0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795"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38C29FEE-8E8F-43D5-AD23-EB4060B4D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8415"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312677" y="2630078"/>
            <a:ext cx="3371323" cy="3263230"/>
          </a:xfrm>
        </p:spPr>
        <p:txBody>
          <a:bodyPr>
            <a:normAutofit/>
          </a:bodyPr>
          <a:lstStyle/>
          <a:p>
            <a:pPr marL="0" marR="0">
              <a:lnSpc>
                <a:spcPct val="107000"/>
              </a:lnSpc>
              <a:spcBef>
                <a:spcPts val="0"/>
              </a:spcBef>
              <a:spcAft>
                <a:spcPts val="800"/>
              </a:spcAft>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So, for this section we conducted two separate analysis, one with the given data which contains negative values and one with a filtered data set with only positive values.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l">
              <a:buNone/>
            </a:pPr>
            <a:endParaRPr lang="en-US" sz="1400" dirty="0">
              <a:solidFill>
                <a:srgbClr val="0F1115"/>
              </a:solidFill>
              <a:effectLst/>
            </a:endParaRPr>
          </a:p>
        </p:txBody>
      </p:sp>
      <p:pic>
        <p:nvPicPr>
          <p:cNvPr id="7" name="Picture 6">
            <a:extLst>
              <a:ext uri="{FF2B5EF4-FFF2-40B4-BE49-F238E27FC236}">
                <a16:creationId xmlns:a16="http://schemas.microsoft.com/office/drawing/2014/main" id="{5234B24D-6818-5FF9-8BDB-C4E9B1843145}"/>
              </a:ext>
            </a:extLst>
          </p:cNvPr>
          <p:cNvPicPr>
            <a:picLocks noChangeAspect="1"/>
          </p:cNvPicPr>
          <p:nvPr/>
        </p:nvPicPr>
        <p:blipFill>
          <a:blip r:embed="rId3">
            <a:extLst>
              <a:ext uri="{28A0092B-C50C-407E-A947-70E740481C1C}">
                <a14:useLocalDpi xmlns:a14="http://schemas.microsoft.com/office/drawing/2010/main" val="0"/>
              </a:ext>
            </a:extLst>
          </a:blip>
          <a:srcRect t="1" b="1"/>
          <a:stretch>
            <a:fillRect/>
          </a:stretch>
        </p:blipFill>
        <p:spPr>
          <a:xfrm>
            <a:off x="978415" y="1405731"/>
            <a:ext cx="6552737" cy="4046538"/>
          </a:xfrm>
          <a:prstGeom prst="rect">
            <a:avLst/>
          </a:prstGeom>
        </p:spPr>
      </p:pic>
    </p:spTree>
    <p:extLst>
      <p:ext uri="{BB962C8B-B14F-4D97-AF65-F5344CB8AC3E}">
        <p14:creationId xmlns:p14="http://schemas.microsoft.com/office/powerpoint/2010/main" val="1436106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2231135" y="219625"/>
            <a:ext cx="8504597" cy="1188720"/>
          </a:xfrm>
        </p:spPr>
        <p:txBody>
          <a:bodyPr>
            <a:normAutofit/>
          </a:bodyPr>
          <a:lstStyle/>
          <a:p>
            <a:r>
              <a:rPr lang="en-US" sz="2400" b="1" dirty="0">
                <a:effectLst/>
                <a:latin typeface="Aptos" panose="020B0004020202020204" pitchFamily="34" charset="0"/>
                <a:ea typeface="Aptos" panose="020B0004020202020204" pitchFamily="34" charset="0"/>
                <a:cs typeface="Times New Roman" panose="02020603050405020304" pitchFamily="18" charset="0"/>
              </a:rPr>
              <a:t>Strategic Recommendations</a:t>
            </a:r>
            <a:endParaRPr lang="en-US" sz="24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530578" y="1599465"/>
            <a:ext cx="11356622" cy="5038909"/>
          </a:xfrm>
        </p:spPr>
        <p:txBody>
          <a:bodyPr/>
          <a:lstStyle/>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Implement dynamic scaling during summer months to reduce resource allocation by 40-50%, potentially saving thousands in operational costs</a:t>
            </a:r>
            <a:endParaRPr lang="en-US" sz="1800" kern="100" dirty="0">
              <a:effectLst/>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Identify and recruit the top 5 users for a beta testing program to gather qualitative feedback and improve system features.</a:t>
            </a:r>
            <a:endParaRPr lang="en-US" sz="1800" kern="100" dirty="0">
              <a:effectLst/>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Move all system maintenance to weekends when usage drops by more than 50%, minimizing disruption to academic activities.</a:t>
            </a:r>
          </a:p>
          <a:p>
            <a:pPr marL="342900" marR="0" lvl="0" indent="-342900">
              <a:lnSpc>
                <a:spcPct val="107000"/>
              </a:lnSpc>
              <a:spcBef>
                <a:spcPts val="0"/>
              </a:spcBef>
              <a:spcAft>
                <a:spcPts val="800"/>
              </a:spcAft>
              <a:buFont typeface="+mj-lt"/>
              <a:buAutoNum type="arabicPeriod"/>
            </a:pPr>
            <a:r>
              <a:rPr lang="en-US" kern="100" dirty="0">
                <a:ea typeface="Aptos" panose="020B0004020202020204" pitchFamily="34" charset="0"/>
                <a:cs typeface="Times New Roman" panose="02020603050405020304" pitchFamily="18" charset="0"/>
              </a:rPr>
              <a:t>Improve data collection and focus on the improvement of data quality for the future.</a:t>
            </a:r>
          </a:p>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Allocate 25% more resources for peak usage weekdays.</a:t>
            </a:r>
            <a:endParaRPr lang="en-US" sz="1800" kern="100" dirty="0">
              <a:solidFill>
                <a:srgbClr val="000000"/>
              </a:solidFill>
              <a:effectLst/>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 </a:t>
            </a:r>
            <a:r>
              <a:rPr lang="en-US" kern="100" dirty="0">
                <a:ea typeface="Aptos" panose="020B0004020202020204" pitchFamily="34" charset="0"/>
                <a:cs typeface="Times New Roman" panose="02020603050405020304" pitchFamily="18" charset="0"/>
              </a:rPr>
              <a:t>Develop </a:t>
            </a:r>
            <a:r>
              <a:rPr lang="en-US" sz="1800" kern="100" dirty="0">
                <a:effectLst/>
                <a:ea typeface="Aptos" panose="020B0004020202020204" pitchFamily="34" charset="0"/>
                <a:cs typeface="Times New Roman" panose="02020603050405020304" pitchFamily="18" charset="0"/>
              </a:rPr>
              <a:t>seasonal staffing models aligned with academic calendar. Regular staffing is not needed during the Summer due to significantly low user traffic.</a:t>
            </a: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Develop specialized training for high-engagement applications. These aren’t needed for the basic applications like internet explorer or Microsoft Word but for the more advanced or technical applications like Visual Studio or SAP.</a:t>
            </a: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Create a quick start guide for infrequent users (555 one-time users).</a:t>
            </a:r>
          </a:p>
          <a:p>
            <a:pPr marL="0" indent="0">
              <a:buNone/>
            </a:pPr>
            <a:endParaRPr lang="en-US" dirty="0"/>
          </a:p>
        </p:txBody>
      </p:sp>
    </p:spTree>
    <p:extLst>
      <p:ext uri="{BB962C8B-B14F-4D97-AF65-F5344CB8AC3E}">
        <p14:creationId xmlns:p14="http://schemas.microsoft.com/office/powerpoint/2010/main" val="3968960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50279" y="1834190"/>
            <a:ext cx="10491441" cy="3189619"/>
          </a:xfrm>
        </p:spPr>
        <p:txBody>
          <a:bodyPr>
            <a:normAutofit/>
          </a:bodyPr>
          <a:lstStyle/>
          <a:p>
            <a:r>
              <a:rPr lang="en-US" sz="8800" b="1" i="0" dirty="0">
                <a:solidFill>
                  <a:srgbClr val="0F1115"/>
                </a:solidFill>
                <a:effectLst/>
                <a:latin typeface="quote-cjk-patch"/>
              </a:rPr>
              <a:t>Thank you</a:t>
            </a:r>
            <a:endParaRPr lang="en-US" sz="8800" dirty="0"/>
          </a:p>
        </p:txBody>
      </p:sp>
    </p:spTree>
    <p:extLst>
      <p:ext uri="{BB962C8B-B14F-4D97-AF65-F5344CB8AC3E}">
        <p14:creationId xmlns:p14="http://schemas.microsoft.com/office/powerpoint/2010/main" val="176715092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TotalTime>299</TotalTime>
  <Words>2084</Words>
  <Application>Microsoft Office PowerPoint</Application>
  <PresentationFormat>Widescreen</PresentationFormat>
  <Paragraphs>115</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Gill Sans MT</vt:lpstr>
      <vt:lpstr>quote-cjk-patch</vt:lpstr>
      <vt:lpstr>Symbol</vt:lpstr>
      <vt:lpstr>Times New Roman</vt:lpstr>
      <vt:lpstr>Parcel</vt:lpstr>
      <vt:lpstr>Analysis of Server logs data and strategic recommendations</vt:lpstr>
      <vt:lpstr>Project Overview</vt:lpstr>
      <vt:lpstr>Data Preparation</vt:lpstr>
      <vt:lpstr>PowerPoint Presentation</vt:lpstr>
      <vt:lpstr>PowerPoint Presentation</vt:lpstr>
      <vt:lpstr>PowerPoint Presentation</vt:lpstr>
      <vt:lpstr>PowerPoint Presentation</vt:lpstr>
      <vt:lpstr>PowerPoint Presentation</vt:lpstr>
      <vt:lpstr>Analysis of Overall USAGE</vt:lpstr>
      <vt:lpstr>Analysis of Overall USAGE</vt:lpstr>
      <vt:lpstr>Analysis of Overall USAGE</vt:lpstr>
      <vt:lpstr>Analysis of overall usage</vt:lpstr>
      <vt:lpstr>Analysis of Overall USAGE</vt:lpstr>
      <vt:lpstr>Analysis of Overall USAGE</vt:lpstr>
      <vt:lpstr>Analysis of the top 5 users</vt:lpstr>
      <vt:lpstr>CPU Usage of the TOP 5 Users</vt:lpstr>
      <vt:lpstr>Cpu usage of the top 5 users</vt:lpstr>
      <vt:lpstr>Strategic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Shahriar Shams</dc:creator>
  <cp:lastModifiedBy>Shams, Md Munem Shariar</cp:lastModifiedBy>
  <cp:revision>9</cp:revision>
  <dcterms:created xsi:type="dcterms:W3CDTF">2025-11-01T20:33:23Z</dcterms:created>
  <dcterms:modified xsi:type="dcterms:W3CDTF">2026-02-21T13:18:18Z</dcterms:modified>
</cp:coreProperties>
</file>